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59669"/>
              </a:solidFill>
            </c:spPr>
          </c:dPt>
          <c:dPt>
            <c:idx val="1"/>
            <c:spPr>
              <a:solidFill>
                <a:srgbClr val="059669"/>
              </a:solidFill>
            </c:spPr>
          </c:dPt>
          <c:dPt>
            <c:idx val="2"/>
            <c:spPr>
              <a:solidFill>
                <a:srgbClr val="059669"/>
              </a:solidFill>
            </c:spPr>
          </c:dPt>
          <c:dPt>
            <c:idx val="3"/>
            <c:spPr>
              <a:solidFill>
                <a:srgbClr val="DC2626"/>
              </a:solidFill>
            </c:spPr>
          </c:dPt>
          <c:dPt>
            <c:idx val="4"/>
            <c:spPr>
              <a:solidFill>
                <a:srgbClr val="059669"/>
              </a:solidFill>
            </c:spPr>
          </c:dPt>
          <c:dPt>
            <c:idx val="5"/>
            <c:spPr>
              <a:solidFill>
                <a:srgbClr val="059669"/>
              </a:solidFill>
            </c:spPr>
          </c:dPt>
          <c:dPt>
            <c:idx val="6"/>
            <c:spPr>
              <a:solidFill>
                <a:srgbClr val="059669"/>
              </a:solidFill>
            </c:spPr>
          </c:dPt>
          <c:dPt>
            <c:idx val="7"/>
            <c:spPr>
              <a:solidFill>
                <a:srgbClr val="059669"/>
              </a:solidFill>
            </c:spPr>
          </c:dPt>
          <c:dLbls>
            <c:txPr>
              <a:bodyPr/>
              <a:lstStyle/>
              <a:p>
                <a:pPr>
                  <a:defRPr sz="800">
                    <a:solidFill>
                      <a:srgbClr val="1A2332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JPM</c:v>
                </c:pt>
                <c:pt idx="1">
                  <c:v>V</c:v>
                </c:pt>
                <c:pt idx="2">
                  <c:v>MA</c:v>
                </c:pt>
                <c:pt idx="3">
                  <c:v>PYPL</c:v>
                </c:pt>
                <c:pt idx="4">
                  <c:v>XYZ</c:v>
                </c:pt>
                <c:pt idx="5">
                  <c:v>COIN</c:v>
                </c:pt>
                <c:pt idx="6">
                  <c:v>HOOD</c:v>
                </c:pt>
                <c:pt idx="7">
                  <c:v>AFRM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30.27</c:v>
                </c:pt>
                <c:pt idx="1">
                  <c:v>15.45</c:v>
                </c:pt>
                <c:pt idx="2">
                  <c:v>13.69</c:v>
                </c:pt>
                <c:pt idx="3">
                  <c:v>-3.63</c:v>
                </c:pt>
                <c:pt idx="4">
                  <c:v>14.4</c:v>
                </c:pt>
                <c:pt idx="5">
                  <c:v>69.01</c:v>
                </c:pt>
                <c:pt idx="6">
                  <c:v>77.86</c:v>
                </c:pt>
                <c:pt idx="7">
                  <c:v>72.62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3A4A6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4748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59669"/>
              </a:solidFill>
            </c:spPr>
          </c:dPt>
          <c:dPt>
            <c:idx val="1"/>
            <c:spPr>
              <a:solidFill>
                <a:srgbClr val="D97706"/>
              </a:solidFill>
            </c:spPr>
          </c:dPt>
          <c:dPt>
            <c:idx val="2"/>
            <c:spPr>
              <a:solidFill>
                <a:srgbClr val="D97706"/>
              </a:solidFill>
            </c:spPr>
          </c:dPt>
          <c:dPt>
            <c:idx val="3"/>
            <c:spPr>
              <a:solidFill>
                <a:srgbClr val="DC2626"/>
              </a:solidFill>
            </c:spPr>
          </c:dPt>
          <c:dPt>
            <c:idx val="4"/>
            <c:spPr>
              <a:solidFill>
                <a:srgbClr val="D97706"/>
              </a:solidFill>
            </c:spPr>
          </c:dPt>
          <c:dPt>
            <c:idx val="5"/>
            <c:spPr>
              <a:solidFill>
                <a:srgbClr val="D97706"/>
              </a:solidFill>
            </c:spPr>
          </c:dPt>
          <c:dPt>
            <c:idx val="6"/>
            <c:spPr>
              <a:solidFill>
                <a:srgbClr val="059669"/>
              </a:solidFill>
            </c:spPr>
          </c:dPt>
          <c:dPt>
            <c:idx val="7"/>
            <c:spPr>
              <a:solidFill>
                <a:srgbClr val="D97706"/>
              </a:solidFill>
            </c:spPr>
          </c:dPt>
          <c:dLbls>
            <c:txPr>
              <a:bodyPr/>
              <a:lstStyle/>
              <a:p>
                <a:pPr>
                  <a:defRPr sz="800">
                    <a:solidFill>
                      <a:srgbClr val="1A2332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JPM</c:v>
                </c:pt>
                <c:pt idx="1">
                  <c:v>V</c:v>
                </c:pt>
                <c:pt idx="2">
                  <c:v>MA</c:v>
                </c:pt>
                <c:pt idx="3">
                  <c:v>PYPL</c:v>
                </c:pt>
                <c:pt idx="4">
                  <c:v>XYZ</c:v>
                </c:pt>
                <c:pt idx="5">
                  <c:v>COIN</c:v>
                </c:pt>
                <c:pt idx="6">
                  <c:v>HOOD</c:v>
                </c:pt>
                <c:pt idx="7">
                  <c:v>AFRM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1.044</c:v>
                </c:pt>
                <c:pt idx="1">
                  <c:v>0.5</c:v>
                </c:pt>
                <c:pt idx="2">
                  <c:v>0.403</c:v>
                </c:pt>
                <c:pt idx="3">
                  <c:v>-0.215</c:v>
                </c:pt>
                <c:pt idx="4">
                  <c:v>0.166</c:v>
                </c:pt>
                <c:pt idx="5">
                  <c:v>0.724</c:v>
                </c:pt>
                <c:pt idx="6">
                  <c:v>1.103</c:v>
                </c:pt>
                <c:pt idx="7">
                  <c:v>0.747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Gridlines>
          <c:spPr>
            <a:ln>
              <a:noFill/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3A4A6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4748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C8E0"/>
            </a:solidFill>
          </c:spPr>
          <c:cat>
            <c:strRef>
              <c:f>Sheet1!$A$2:$A$9</c:f>
              <c:strCache>
                <c:ptCount val="8"/>
                <c:pt idx="0">
                  <c:v>Vol_Ratio</c:v>
                </c:pt>
                <c:pt idx="1">
                  <c:v>RSI</c:v>
                </c:pt>
                <c:pt idx="2">
                  <c:v>MACD_Hist</c:v>
                </c:pt>
                <c:pt idx="3">
                  <c:v>SMA_20</c:v>
                </c:pt>
                <c:pt idx="4">
                  <c:v>BB_Width</c:v>
                </c:pt>
                <c:pt idx="5">
                  <c:v>EMA_12</c:v>
                </c:pt>
                <c:pt idx="6">
                  <c:v>Vol_20d</c:v>
                </c:pt>
                <c:pt idx="7">
                  <c:v>Log_Ret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0.112</c:v>
                </c:pt>
                <c:pt idx="1">
                  <c:v>0.098</c:v>
                </c:pt>
                <c:pt idx="2">
                  <c:v>0.087</c:v>
                </c:pt>
                <c:pt idx="3">
                  <c:v>0.082</c:v>
                </c:pt>
                <c:pt idx="4">
                  <c:v>0.076</c:v>
                </c:pt>
                <c:pt idx="5">
                  <c:v>0.071</c:v>
                </c:pt>
                <c:pt idx="6">
                  <c:v>0.068</c:v>
                </c:pt>
                <c:pt idx="7">
                  <c:v>0.063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Gridlines>
          <c:spPr>
            <a:ln>
              <a:noFill/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3A4A6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4748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59669"/>
              </a:solidFill>
            </c:spPr>
          </c:dPt>
          <c:dPt>
            <c:idx val="1"/>
            <c:spPr>
              <a:solidFill>
                <a:srgbClr val="059669"/>
              </a:solidFill>
            </c:spPr>
          </c:dPt>
          <c:dPt>
            <c:idx val="2"/>
            <c:spPr>
              <a:solidFill>
                <a:srgbClr val="059669"/>
              </a:solidFill>
            </c:spPr>
          </c:dPt>
          <c:dPt>
            <c:idx val="3"/>
            <c:spPr>
              <a:solidFill>
                <a:srgbClr val="059669"/>
              </a:solidFill>
            </c:spPr>
          </c:dPt>
          <c:dPt>
            <c:idx val="4"/>
            <c:spPr>
              <a:solidFill>
                <a:srgbClr val="DC2626"/>
              </a:solidFill>
            </c:spPr>
          </c:dPt>
          <c:dPt>
            <c:idx val="5"/>
            <c:spPr>
              <a:solidFill>
                <a:srgbClr val="059669"/>
              </a:solidFill>
            </c:spPr>
          </c:dPt>
          <c:dPt>
            <c:idx val="6"/>
            <c:spPr>
              <a:solidFill>
                <a:srgbClr val="059669"/>
              </a:solidFill>
            </c:spPr>
          </c:dPt>
          <c:dPt>
            <c:idx val="7"/>
            <c:spPr>
              <a:solidFill>
                <a:srgbClr val="059669"/>
              </a:solidFill>
            </c:spPr>
          </c:dPt>
          <c:dLbls>
            <c:txPr>
              <a:bodyPr/>
              <a:lstStyle/>
              <a:p>
                <a:pPr>
                  <a:defRPr sz="800">
                    <a:solidFill>
                      <a:srgbClr val="1A2332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JPM</c:v>
                </c:pt>
                <c:pt idx="1">
                  <c:v>V</c:v>
                </c:pt>
                <c:pt idx="2">
                  <c:v>MA</c:v>
                </c:pt>
                <c:pt idx="3">
                  <c:v>PYPL</c:v>
                </c:pt>
                <c:pt idx="4">
                  <c:v>XYZ</c:v>
                </c:pt>
                <c:pt idx="5">
                  <c:v>COIN</c:v>
                </c:pt>
                <c:pt idx="6">
                  <c:v>HOOD</c:v>
                </c:pt>
                <c:pt idx="7">
                  <c:v>AFRM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0.18</c:v>
                </c:pt>
                <c:pt idx="1">
                  <c:v>0.23</c:v>
                </c:pt>
                <c:pt idx="2">
                  <c:v>0.34</c:v>
                </c:pt>
                <c:pt idx="3">
                  <c:v>0.15</c:v>
                </c:pt>
                <c:pt idx="4">
                  <c:v>-0.02</c:v>
                </c:pt>
                <c:pt idx="5">
                  <c:v>0.24</c:v>
                </c:pt>
                <c:pt idx="6">
                  <c:v>0.21</c:v>
                </c:pt>
                <c:pt idx="7">
                  <c:v>0.28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3A4A6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4748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C8E0"/>
              </a:solidFill>
            </c:spPr>
          </c:dPt>
          <c:dPt>
            <c:idx val="1"/>
            <c:spPr>
              <a:solidFill>
                <a:srgbClr val="2A3A7A"/>
              </a:solidFill>
            </c:spPr>
          </c:dPt>
          <c:dPt>
            <c:idx val="2"/>
            <c:spPr>
              <a:solidFill>
                <a:srgbClr val="059669"/>
              </a:solidFill>
            </c:spPr>
          </c:dPt>
          <c:dLbls>
            <c:txPr>
              <a:bodyPr/>
              <a:lstStyle/>
              <a:p>
                <a:pPr>
                  <a:defRPr sz="1100"/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JPM</c:v>
                </c:pt>
                <c:pt idx="1">
                  <c:v>HOOD</c:v>
                </c:pt>
                <c:pt idx="2">
                  <c:v>AFRM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70.4</c:v>
                </c:pt>
                <c:pt idx="1">
                  <c:v>29.1</c:v>
                </c:pt>
                <c:pt idx="2">
                  <c:v>0.5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1E2761"/>
              </a:solidFill>
            </c:spPr>
          </c:dPt>
          <c:dPt>
            <c:idx val="1"/>
            <c:spPr>
              <a:solidFill>
                <a:srgbClr val="028090"/>
              </a:solidFill>
            </c:spPr>
          </c:dPt>
          <c:dPt>
            <c:idx val="2"/>
            <c:spPr>
              <a:solidFill>
                <a:srgbClr val="05785C"/>
              </a:solidFill>
            </c:spPr>
          </c:dPt>
          <c:dPt>
            <c:idx val="3"/>
            <c:spPr>
              <a:solidFill>
                <a:srgbClr val="D97706"/>
              </a:solidFill>
            </c:spPr>
          </c:dPt>
          <c:dLbls>
            <c:txPr>
              <a:bodyPr/>
              <a:lstStyle/>
              <a:p>
                <a:pPr>
                  <a:defRPr sz="1100"/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JPM</c:v>
                </c:pt>
                <c:pt idx="1">
                  <c:v>V</c:v>
                </c:pt>
                <c:pt idx="2">
                  <c:v>MA</c:v>
                </c:pt>
                <c:pt idx="3">
                  <c:v>PYPL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32.7</c:v>
                </c:pt>
                <c:pt idx="1">
                  <c:v>44.9</c:v>
                </c:pt>
                <c:pt idx="2">
                  <c:v>22.2</c:v>
                </c:pt>
                <c:pt idx="3">
                  <c:v>0.2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955279" y="64008"/>
            <a:ext cx="4233672" cy="679399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26679" y="64008"/>
            <a:ext cx="274320" cy="6793992"/>
          </a:xfrm>
          <a:prstGeom prst="rect">
            <a:avLst/>
          </a:prstGeom>
          <a:solidFill>
            <a:srgbClr val="00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6583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8E0"/>
                </a:solidFill>
                <a:latin typeface="Calibri"/>
              </a:rPr>
              <a:t>DATA ANALYTICS  ·  FINTECH  ·  2020–2024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6675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Calibri"/>
              </a:rPr>
              <a:t>FinTech Stock Market</a:t>
            </a:r>
          </a:p>
          <a:p>
            <a:pPr algn="l"/>
            <a:r>
              <a:rPr sz="4600" b="1">
                <a:solidFill>
                  <a:srgbClr val="00C8E0"/>
                </a:solidFill>
                <a:latin typeface="Calibri"/>
              </a:rPr>
              <a:t>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56432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ADCFC"/>
                </a:solidFill>
                <a:latin typeface="Calibri"/>
              </a:rPr>
              <a:t>A Comprehensive Data Analytics Study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023360"/>
            <a:ext cx="3474720" cy="36576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206240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8E0"/>
                </a:solidFill>
                <a:latin typeface="Calibri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634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FinTech Stocks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4206240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8E0"/>
                </a:solidFill>
                <a:latin typeface="Calibri"/>
              </a:rPr>
              <a:t>5 yrs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46634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2020–2024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4206240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8E0"/>
                </a:solidFill>
                <a:latin typeface="Calibri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46634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Analysis Phases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4206240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8E0"/>
                </a:solidFill>
                <a:latin typeface="Calibri"/>
              </a:rPr>
              <a:t>1,257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46634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Trading Days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A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27432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8E0"/>
                </a:solidFill>
                <a:latin typeface="Calibri"/>
              </a:rPr>
              <a:t>PROJECT SCOPE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65008" y="749808"/>
            <a:ext cx="3913632" cy="713232"/>
          </a:xfrm>
          <a:prstGeom prst="rect">
            <a:avLst/>
          </a:prstGeom>
          <a:solidFill>
            <a:srgbClr val="2A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905256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01  Data Collection &amp; Preprocessing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65008" y="1664207"/>
            <a:ext cx="3913632" cy="713232"/>
          </a:xfrm>
          <a:prstGeom prst="rect">
            <a:avLst/>
          </a:prstGeom>
          <a:solidFill>
            <a:srgbClr val="2A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1819655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02  Exploratory Data Analysis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65008" y="2578608"/>
            <a:ext cx="3913632" cy="713232"/>
          </a:xfrm>
          <a:prstGeom prst="rect">
            <a:avLst/>
          </a:prstGeom>
          <a:solidFill>
            <a:srgbClr val="2A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2734056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03  Feature Engineering (24 indicators)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65008" y="3493008"/>
            <a:ext cx="3913632" cy="713232"/>
          </a:xfrm>
          <a:prstGeom prst="rect">
            <a:avLst/>
          </a:prstGeom>
          <a:solidFill>
            <a:srgbClr val="2A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3648456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04  ML Prediction  (Random Forest)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65008" y="4407408"/>
            <a:ext cx="3913632" cy="713232"/>
          </a:xfrm>
          <a:prstGeom prst="rect">
            <a:avLst/>
          </a:prstGeom>
          <a:solidFill>
            <a:srgbClr val="2A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4562856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05  News Sentiment Analysis (VADER)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65008" y="5321808"/>
            <a:ext cx="3913632" cy="713232"/>
          </a:xfrm>
          <a:prstGeom prst="rect">
            <a:avLst/>
          </a:prstGeom>
          <a:solidFill>
            <a:srgbClr val="2A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5477256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06  Portfolio Optimization &amp; GBM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Phase 1 — Data Collection &amp;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Yahoo Finance via yfinance · OHLCV · 8 FinTech stocks · 2020–2024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3794760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64008" cy="5486400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0700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Data Source &amp; Coverage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1115568" cy="4572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737360"/>
            <a:ext cx="10241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2761"/>
                </a:solidFill>
                <a:latin typeface="Calibri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746504"/>
            <a:ext cx="2331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332"/>
                </a:solidFill>
                <a:latin typeface="Calibri"/>
              </a:rPr>
              <a:t>yfinance (Yahoo Finance API)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58568"/>
            <a:ext cx="1115568" cy="4572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31720"/>
            <a:ext cx="10241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2761"/>
                </a:solidFill>
                <a:latin typeface="Calibri"/>
              </a:rPr>
              <a:t>Period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340864"/>
            <a:ext cx="2331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332"/>
                </a:solidFill>
                <a:latin typeface="Calibri"/>
              </a:rPr>
              <a:t>Jan 2020 – Dec 2024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852928"/>
            <a:ext cx="1115568" cy="4572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926080"/>
            <a:ext cx="10241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2761"/>
                </a:solidFill>
                <a:latin typeface="Calibri"/>
              </a:rPr>
              <a:t>Frequency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2935224"/>
            <a:ext cx="2331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332"/>
                </a:solidFill>
                <a:latin typeface="Calibri"/>
              </a:rPr>
              <a:t>Daily trading days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47288"/>
            <a:ext cx="1115568" cy="4572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520440"/>
            <a:ext cx="10241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2761"/>
                </a:solidFill>
                <a:latin typeface="Calibri"/>
              </a:rPr>
              <a:t>Fields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529584"/>
            <a:ext cx="2331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332"/>
                </a:solidFill>
                <a:latin typeface="Calibri"/>
              </a:rPr>
              <a:t>Open, High, Low, Close, Vol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041648"/>
            <a:ext cx="1115568" cy="4572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114800"/>
            <a:ext cx="10241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2761"/>
                </a:solidFill>
                <a:latin typeface="Calibri"/>
              </a:rPr>
              <a:t>Stocks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4123944"/>
            <a:ext cx="2331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332"/>
                </a:solidFill>
                <a:latin typeface="Calibri"/>
              </a:rPr>
              <a:t>8 FinTech companies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636008"/>
            <a:ext cx="1115568" cy="4572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709160"/>
            <a:ext cx="10241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2761"/>
                </a:solidFill>
                <a:latin typeface="Calibri"/>
              </a:rPr>
              <a:t>Full rows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4718304"/>
            <a:ext cx="2331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332"/>
                </a:solidFill>
                <a:latin typeface="Calibri"/>
              </a:rPr>
              <a:t>≈ 1,257 per full-history stock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230368"/>
            <a:ext cx="1115568" cy="4572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303520"/>
            <a:ext cx="10241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2761"/>
                </a:solidFill>
                <a:latin typeface="Calibri"/>
              </a:rPr>
              <a:t>Shorter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5312664"/>
            <a:ext cx="2331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332"/>
                </a:solidFill>
                <a:latin typeface="Calibri"/>
              </a:rPr>
              <a:t>COIN / HOOD / AFRM (post-IPO)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824728"/>
            <a:ext cx="1115568" cy="4572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897880"/>
            <a:ext cx="10241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2761"/>
                </a:solidFill>
                <a:latin typeface="Calibri"/>
              </a:rPr>
              <a:t>Missing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5907024"/>
            <a:ext cx="2331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332"/>
                </a:solidFill>
                <a:latin typeface="Calibri"/>
              </a:rPr>
              <a:t>None — clean download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1097280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Stocks Analyzed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89120" y="1508760"/>
            <a:ext cx="7589520" cy="43891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34840" y="1572768"/>
            <a:ext cx="1005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Ticker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1572768"/>
            <a:ext cx="2148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Company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0" y="1572768"/>
            <a:ext cx="2057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Period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1572768"/>
            <a:ext cx="1051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Days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0" y="157276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Ann. Return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89120" y="1965960"/>
            <a:ext cx="75895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34840" y="2084831"/>
            <a:ext cx="9326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Calibri"/>
              </a:rPr>
              <a:t>JPM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0" y="2084831"/>
            <a:ext cx="20756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  <a:latin typeface="Calibri"/>
              </a:rPr>
              <a:t>JPMorgan Chase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2084831"/>
            <a:ext cx="19842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6B"/>
                </a:solidFill>
                <a:latin typeface="Calibri"/>
              </a:rPr>
              <a:t>2020–2024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84080" y="2084831"/>
            <a:ext cx="97840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6B"/>
                </a:solidFill>
                <a:latin typeface="Calibri"/>
              </a:rPr>
              <a:t>1,257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2084831"/>
            <a:ext cx="11155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+30.3%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89120" y="2514600"/>
            <a:ext cx="7589520" cy="530352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34840" y="2633472"/>
            <a:ext cx="9326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Calibri"/>
              </a:rPr>
              <a:t>V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0" y="2633472"/>
            <a:ext cx="20756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  <a:latin typeface="Calibri"/>
              </a:rPr>
              <a:t>Visa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60" y="2633472"/>
            <a:ext cx="19842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6B"/>
                </a:solidFill>
                <a:latin typeface="Calibri"/>
              </a:rPr>
              <a:t>2020–2024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84080" y="2633472"/>
            <a:ext cx="97840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6B"/>
                </a:solidFill>
                <a:latin typeface="Calibri"/>
              </a:rPr>
              <a:t>1,257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881360" y="2633472"/>
            <a:ext cx="11155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+15.5%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89120" y="3063239"/>
            <a:ext cx="75895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34840" y="3182111"/>
            <a:ext cx="9326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Calibri"/>
              </a:rPr>
              <a:t>MA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0" y="3182111"/>
            <a:ext cx="20756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  <a:latin typeface="Calibri"/>
              </a:rPr>
              <a:t>Mastercard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80960" y="3182111"/>
            <a:ext cx="19842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6B"/>
                </a:solidFill>
                <a:latin typeface="Calibri"/>
              </a:rPr>
              <a:t>2020–2024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84080" y="3182111"/>
            <a:ext cx="97840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6B"/>
                </a:solidFill>
                <a:latin typeface="Calibri"/>
              </a:rPr>
              <a:t>1,257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81360" y="3182111"/>
            <a:ext cx="11155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+13.7%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89120" y="3611879"/>
            <a:ext cx="7589520" cy="530352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34840" y="3730752"/>
            <a:ext cx="9326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Calibri"/>
              </a:rPr>
              <a:t>PYPL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0" y="3730752"/>
            <a:ext cx="20756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  <a:latin typeface="Calibri"/>
              </a:rPr>
              <a:t>PayPal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80960" y="3730752"/>
            <a:ext cx="19842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6B"/>
                </a:solidFill>
                <a:latin typeface="Calibri"/>
              </a:rPr>
              <a:t>2020–2024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84080" y="3730752"/>
            <a:ext cx="97840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6B"/>
                </a:solidFill>
                <a:latin typeface="Calibri"/>
              </a:rPr>
              <a:t>1,257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881360" y="3730752"/>
            <a:ext cx="11155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  <a:latin typeface="Calibri"/>
              </a:rPr>
              <a:t>−3.6%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389120" y="4160520"/>
            <a:ext cx="75895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434840" y="4279392"/>
            <a:ext cx="9326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Calibri"/>
              </a:rPr>
              <a:t>XYZ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86400" y="4279392"/>
            <a:ext cx="20756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  <a:latin typeface="Calibri"/>
              </a:rPr>
              <a:t>Block (Square)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80960" y="4279392"/>
            <a:ext cx="19842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6B"/>
                </a:solidFill>
                <a:latin typeface="Calibri"/>
              </a:rPr>
              <a:t>2020–2024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784080" y="4279392"/>
            <a:ext cx="97840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6B"/>
                </a:solidFill>
                <a:latin typeface="Calibri"/>
              </a:rPr>
              <a:t>1,257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881360" y="4279392"/>
            <a:ext cx="11155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+14.4%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389120" y="4709160"/>
            <a:ext cx="7589520" cy="530352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434840" y="4828032"/>
            <a:ext cx="9326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Calibri"/>
              </a:rPr>
              <a:t>COIN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86400" y="4828032"/>
            <a:ext cx="20756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  <a:latin typeface="Calibri"/>
              </a:rPr>
              <a:t>Coinbase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680960" y="4828032"/>
            <a:ext cx="19842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6B"/>
                </a:solidFill>
                <a:latin typeface="Calibri"/>
              </a:rPr>
              <a:t>2021–2024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784080" y="4828032"/>
            <a:ext cx="97840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6B"/>
                </a:solidFill>
                <a:latin typeface="Calibri"/>
              </a:rPr>
              <a:t>935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881360" y="4828032"/>
            <a:ext cx="11155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+69.0%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389120" y="5257800"/>
            <a:ext cx="75895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434840" y="5376672"/>
            <a:ext cx="9326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Calibri"/>
              </a:rPr>
              <a:t>HOOD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86400" y="5376672"/>
            <a:ext cx="20756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  <a:latin typeface="Calibri"/>
              </a:rPr>
              <a:t>Robinhood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680960" y="5376672"/>
            <a:ext cx="19842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6B"/>
                </a:solidFill>
                <a:latin typeface="Calibri"/>
              </a:rPr>
              <a:t>2021–2024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784080" y="5376672"/>
            <a:ext cx="97840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6B"/>
                </a:solidFill>
                <a:latin typeface="Calibri"/>
              </a:rPr>
              <a:t>861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881360" y="5376672"/>
            <a:ext cx="11155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+77.9%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389120" y="5806440"/>
            <a:ext cx="7589520" cy="530352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434840" y="5925312"/>
            <a:ext cx="9326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Calibri"/>
              </a:rPr>
              <a:t>AFRM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486400" y="5925312"/>
            <a:ext cx="20756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  <a:latin typeface="Calibri"/>
              </a:rPr>
              <a:t>Affirm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680960" y="5925312"/>
            <a:ext cx="19842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6B"/>
                </a:solidFill>
                <a:latin typeface="Calibri"/>
              </a:rPr>
              <a:t>2021–2024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784080" y="5925312"/>
            <a:ext cx="97840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6B"/>
                </a:solidFill>
                <a:latin typeface="Calibri"/>
              </a:rPr>
              <a:t>997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881360" y="5925312"/>
            <a:ext cx="11155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+72.6%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65760" y="6492240"/>
            <a:ext cx="11457432" cy="274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48640" y="6510528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ADCFC"/>
                </a:solidFill>
                <a:latin typeface="Calibri"/>
              </a:rPr>
              <a:t>OHLCV = Open, High, Low, Close, Volume  ·  Multi-index columns flattened  ·  No missing values in downloaded data  ·  IPO-date handled per ticker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Phase 2 —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24 technical indicators engineered across 6 categories · Binary target for ML classification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37033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64008" cy="175564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252728"/>
            <a:ext cx="34472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Moving Averages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673352"/>
            <a:ext cx="34472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332"/>
                </a:solidFill>
                <a:latin typeface="Calibri"/>
              </a:rPr>
              <a:t>• SMA 20, SMA 50, SMA 200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020824"/>
            <a:ext cx="34472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332"/>
                </a:solidFill>
                <a:latin typeface="Calibri"/>
              </a:rPr>
              <a:t>• EMA 12, EMA 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0832" y="1143000"/>
            <a:ext cx="37033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143000"/>
            <a:ext cx="64008" cy="175564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4" y="1252728"/>
            <a:ext cx="34472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  <a:latin typeface="Calibri"/>
              </a:rPr>
              <a:t>Momentum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1673352"/>
            <a:ext cx="34472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332"/>
                </a:solidFill>
                <a:latin typeface="Calibri"/>
              </a:rPr>
              <a:t>• MACD + Signal 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2020824"/>
            <a:ext cx="34472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332"/>
                </a:solidFill>
                <a:latin typeface="Calibri"/>
              </a:rPr>
              <a:t>• MACD Histogram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2368296"/>
            <a:ext cx="34472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332"/>
                </a:solidFill>
                <a:latin typeface="Calibri"/>
              </a:rPr>
              <a:t>• RSI (14-period)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75904" y="1143000"/>
            <a:ext cx="37033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75904" y="1143000"/>
            <a:ext cx="64008" cy="1755648"/>
          </a:xfrm>
          <a:prstGeom prst="rect">
            <a:avLst/>
          </a:prstGeom>
          <a:solidFill>
            <a:srgbClr val="05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0496" y="1252728"/>
            <a:ext cx="34472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785C"/>
                </a:solidFill>
                <a:latin typeface="Calibri"/>
              </a:rPr>
              <a:t>Bollinger Bands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0496" y="1673352"/>
            <a:ext cx="34472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332"/>
                </a:solidFill>
                <a:latin typeface="Calibri"/>
              </a:rPr>
              <a:t>• Upper Band, Lower Band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0496" y="2020824"/>
            <a:ext cx="34472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332"/>
                </a:solidFill>
                <a:latin typeface="Calibri"/>
              </a:rPr>
              <a:t>• BB Width (squeeze indicator)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154680"/>
            <a:ext cx="37033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154680"/>
            <a:ext cx="64008" cy="17556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3264408"/>
            <a:ext cx="34472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Calibri"/>
              </a:rPr>
              <a:t>Return Metrics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3685032"/>
            <a:ext cx="34472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332"/>
                </a:solidFill>
                <a:latin typeface="Calibri"/>
              </a:rPr>
              <a:t>• Daily Return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4032504"/>
            <a:ext cx="34472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332"/>
                </a:solidFill>
                <a:latin typeface="Calibri"/>
              </a:rPr>
              <a:t>• Log Return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70832" y="3154680"/>
            <a:ext cx="37033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70832" y="3154680"/>
            <a:ext cx="64008" cy="1755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35424" y="3264408"/>
            <a:ext cx="34472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Volatility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35424" y="3685032"/>
            <a:ext cx="34472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332"/>
                </a:solidFill>
                <a:latin typeface="Calibri"/>
              </a:rPr>
              <a:t>• 20-day Rolling Vol (ann.)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75904" y="3154680"/>
            <a:ext cx="37033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75904" y="3154680"/>
            <a:ext cx="64008" cy="17556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40496" y="3264408"/>
            <a:ext cx="34472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Calibri"/>
              </a:rPr>
              <a:t>Volume Indicators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0496" y="3685032"/>
            <a:ext cx="34472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332"/>
                </a:solidFill>
                <a:latin typeface="Calibri"/>
              </a:rPr>
              <a:t>• Volume MA 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0496" y="4032504"/>
            <a:ext cx="34472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332"/>
                </a:solidFill>
                <a:latin typeface="Calibri"/>
              </a:rPr>
              <a:t>• Volume Ratio (vol/ma)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321808"/>
            <a:ext cx="11457432" cy="129844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541324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E0"/>
                </a:solidFill>
                <a:latin typeface="Calibri"/>
              </a:rPr>
              <a:t>24 Engineered Features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5833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→ + 15 Lagged Features (5-day lags on Daily Return, RSI, Volume Ratio)  =  39 total for ML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61539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Target Variable: Binary — 1 if closing price UP next day, 0 if DOWN  ·  Class imbalance checked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Phase 3 — 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Normalized price · Return distributions · Correlation heatmap · Rolling volatility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48463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64008" cy="1298448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Normalized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4480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332"/>
                </a:solidFill>
                <a:latin typeface="Calibri"/>
              </a:rPr>
              <a:t>  COIN &amp; HOOD: explosive growth (+100%+)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4480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332"/>
                </a:solidFill>
                <a:latin typeface="Calibri"/>
              </a:rPr>
              <a:t>  PYPL: dramatic decline (−63% from peak)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4480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332"/>
                </a:solidFill>
                <a:latin typeface="Calibri"/>
              </a:rPr>
              <a:t>  V &amp; MA: steady low-volatility appreciation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542032"/>
            <a:ext cx="48463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542032"/>
            <a:ext cx="64008" cy="1298448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63347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Return Distributions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999232"/>
            <a:ext cx="4480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332"/>
                </a:solidFill>
                <a:latin typeface="Calibri"/>
              </a:rPr>
              <a:t>  All stocks: leptokurtosis (fat tails)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73552"/>
            <a:ext cx="4480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332"/>
                </a:solidFill>
                <a:latin typeface="Calibri"/>
              </a:rPr>
              <a:t>  COIN/AFRM: highest skewness &amp; extremes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547872"/>
            <a:ext cx="4480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332"/>
                </a:solidFill>
                <a:latin typeface="Calibri"/>
              </a:rPr>
              <a:t>  V &amp; MA: near-normal, lowest tail risk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941064"/>
            <a:ext cx="48463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941064"/>
            <a:ext cx="64008" cy="1298448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032504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Correlation 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398264"/>
            <a:ext cx="4480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332"/>
                </a:solidFill>
                <a:latin typeface="Calibri"/>
              </a:rPr>
              <a:t>  V &amp; MA: highest correlation (~0.78)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672584"/>
            <a:ext cx="4480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332"/>
                </a:solidFill>
                <a:latin typeface="Calibri"/>
              </a:rPr>
              <a:t>  COIN: lowest correlation — diversify!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946904"/>
            <a:ext cx="4480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332"/>
                </a:solidFill>
                <a:latin typeface="Calibri"/>
              </a:rPr>
              <a:t>  JPM anchors the traditional fintech cluster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340096"/>
            <a:ext cx="48463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5340096"/>
            <a:ext cx="64008" cy="1298448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431536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Rolling Volatility (30-day)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797296"/>
            <a:ext cx="4480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332"/>
                </a:solidFill>
                <a:latin typeface="Calibri"/>
              </a:rPr>
              <a:t>  COVID-19 March 2020: all stocks spiked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071616"/>
            <a:ext cx="4480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332"/>
                </a:solidFill>
                <a:latin typeface="Calibri"/>
              </a:rPr>
              <a:t>  AFRM &amp; COIN: persistently high vol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345936"/>
            <a:ext cx="4480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332"/>
                </a:solidFill>
                <a:latin typeface="Calibri"/>
              </a:rPr>
              <a:t>  Volatility clustering visible across series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114300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Annualised Returns (%)</a:t>
            </a:r>
          </a:p>
        </p:txBody>
      </p:sp>
      <p:graphicFrame>
        <p:nvGraphicFramePr>
          <p:cNvPr id="30" name="Chart 29"/>
          <p:cNvGraphicFramePr>
            <a:graphicFrameLocks noGrp="1"/>
          </p:cNvGraphicFramePr>
          <p:nvPr/>
        </p:nvGraphicFramePr>
        <p:xfrm>
          <a:off x="5394960" y="1508760"/>
          <a:ext cx="649224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1" name="Rectangle 30"/>
          <p:cNvSpPr/>
          <p:nvPr/>
        </p:nvSpPr>
        <p:spPr>
          <a:xfrm>
            <a:off x="5394960" y="5394960"/>
            <a:ext cx="1554480" cy="1188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68112" y="5468112"/>
            <a:ext cx="1417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8E0"/>
                </a:solidFill>
                <a:latin typeface="Calibri"/>
              </a:rPr>
              <a:t>JPM — 1.044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68112" y="5961888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ADCFC"/>
                </a:solidFill>
                <a:latin typeface="Calibri"/>
              </a:rPr>
              <a:t>Best Sharpe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40880" y="5394960"/>
            <a:ext cx="1554480" cy="1188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14032" y="5468112"/>
            <a:ext cx="1417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8E0"/>
                </a:solidFill>
                <a:latin typeface="Calibri"/>
              </a:rPr>
              <a:t>HOOD — +77.9%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2" y="5961888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ADCFC"/>
                </a:solidFill>
                <a:latin typeface="Calibri"/>
              </a:rPr>
              <a:t>Highest Ret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0" y="5394960"/>
            <a:ext cx="1554480" cy="1188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59952" y="5468112"/>
            <a:ext cx="1417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8E0"/>
                </a:solidFill>
                <a:latin typeface="Calibri"/>
              </a:rPr>
              <a:t>AFRM — −77.7%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59952" y="5961888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ADCFC"/>
                </a:solidFill>
                <a:latin typeface="Calibri"/>
              </a:rPr>
              <a:t>Max Drawdown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332720" y="5394960"/>
            <a:ext cx="1554480" cy="1188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05872" y="5468112"/>
            <a:ext cx="1417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8E0"/>
                </a:solidFill>
                <a:latin typeface="Calibri"/>
              </a:rPr>
              <a:t>V — 20.9%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05872" y="5961888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ADCFC"/>
                </a:solidFill>
                <a:latin typeface="Calibri"/>
              </a:rPr>
              <a:t>Lowest Vol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Risk Analysis — Quantitative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Sharpe Ratio · Value at Risk 95% · Conditional VaR · Maximum Drawdown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8641080" cy="43891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07008"/>
            <a:ext cx="102412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Ticker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207008"/>
            <a:ext cx="11612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Ann. Return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39" y="1207008"/>
            <a:ext cx="12527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Volatility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207008"/>
            <a:ext cx="14813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Sharpe Ratio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1207008"/>
            <a:ext cx="11155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VaR 95%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59" y="1207008"/>
            <a:ext cx="16184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Max Drawdown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600200"/>
            <a:ext cx="8641080" cy="521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719072"/>
            <a:ext cx="102412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Calibri"/>
              </a:rPr>
              <a:t>JPM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1719072"/>
            <a:ext cx="11612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  <a:latin typeface="Calibri"/>
              </a:rPr>
              <a:t>+30.3%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39" y="1719072"/>
            <a:ext cx="12527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  <a:latin typeface="Calibri"/>
              </a:rPr>
              <a:t>24.2%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1719072"/>
            <a:ext cx="14813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1.044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1719072"/>
            <a:ext cx="11155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2626"/>
                </a:solidFill>
                <a:latin typeface="Calibri"/>
              </a:rPr>
              <a:t>−2.16%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59" y="1719072"/>
            <a:ext cx="16184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2626"/>
                </a:solidFill>
                <a:latin typeface="Calibri"/>
              </a:rPr>
              <a:t>−24.4%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139696"/>
            <a:ext cx="8641080" cy="521207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2258568"/>
            <a:ext cx="102412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Calibri"/>
              </a:rPr>
              <a:t>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2258568"/>
            <a:ext cx="11612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  <a:latin typeface="Calibri"/>
              </a:rPr>
              <a:t>+15.5%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39" y="2258568"/>
            <a:ext cx="12527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  <a:latin typeface="Calibri"/>
              </a:rPr>
              <a:t>20.9%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2258568"/>
            <a:ext cx="14813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32"/>
                </a:solidFill>
                <a:latin typeface="Calibri"/>
              </a:rPr>
              <a:t>0.500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2258568"/>
            <a:ext cx="11155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2626"/>
                </a:solidFill>
                <a:latin typeface="Calibri"/>
              </a:rPr>
              <a:t>−1.98%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59" y="2258568"/>
            <a:ext cx="16184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2626"/>
                </a:solidFill>
                <a:latin typeface="Calibri"/>
              </a:rPr>
              <a:t>−20.4%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79191"/>
            <a:ext cx="8641080" cy="521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2798063"/>
            <a:ext cx="102412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Calibri"/>
              </a:rPr>
              <a:t>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2798063"/>
            <a:ext cx="11612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  <a:latin typeface="Calibri"/>
              </a:rPr>
              <a:t>+13.7%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39" y="2798063"/>
            <a:ext cx="12527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  <a:latin typeface="Calibri"/>
              </a:rPr>
              <a:t>21.5%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2798063"/>
            <a:ext cx="14813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32"/>
                </a:solidFill>
                <a:latin typeface="Calibri"/>
              </a:rPr>
              <a:t>0.403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2798063"/>
            <a:ext cx="11155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2626"/>
                </a:solidFill>
                <a:latin typeface="Calibri"/>
              </a:rPr>
              <a:t>−2.03%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59" y="2798063"/>
            <a:ext cx="16184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2626"/>
                </a:solidFill>
                <a:latin typeface="Calibri"/>
              </a:rPr>
              <a:t>−21.9%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218688"/>
            <a:ext cx="8641080" cy="521207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3337560"/>
            <a:ext cx="102412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Calibri"/>
              </a:rPr>
              <a:t>PYPL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3337560"/>
            <a:ext cx="11612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  <a:latin typeface="Calibri"/>
              </a:rPr>
              <a:t>−3.6%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34639" y="3337560"/>
            <a:ext cx="12527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  <a:latin typeface="Calibri"/>
              </a:rPr>
              <a:t>40.2%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06240" y="3337560"/>
            <a:ext cx="14813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  <a:latin typeface="Calibri"/>
              </a:rPr>
              <a:t>−0.215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720" y="3337560"/>
            <a:ext cx="11155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2626"/>
                </a:solidFill>
                <a:latin typeface="Calibri"/>
              </a:rPr>
              <a:t>−3.69%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95159" y="3337560"/>
            <a:ext cx="16184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2626"/>
                </a:solidFill>
                <a:latin typeface="Calibri"/>
              </a:rPr>
              <a:t>−61.6%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758183"/>
            <a:ext cx="8641080" cy="521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3877055"/>
            <a:ext cx="102412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Calibri"/>
              </a:rPr>
              <a:t>XYZ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54480" y="3877055"/>
            <a:ext cx="11612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  <a:latin typeface="Calibri"/>
              </a:rPr>
              <a:t>+14.4%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34639" y="3877055"/>
            <a:ext cx="12527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  <a:latin typeface="Calibri"/>
              </a:rPr>
              <a:t>56.7%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06240" y="3877055"/>
            <a:ext cx="14813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0.166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60720" y="3877055"/>
            <a:ext cx="11155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2626"/>
                </a:solidFill>
                <a:latin typeface="Calibri"/>
              </a:rPr>
              <a:t>−5.55%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95159" y="3877055"/>
            <a:ext cx="16184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2626"/>
                </a:solidFill>
                <a:latin typeface="Calibri"/>
              </a:rPr>
              <a:t>−56.7%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4297679"/>
            <a:ext cx="8641080" cy="521207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4416551"/>
            <a:ext cx="102412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Calibri"/>
              </a:rPr>
              <a:t>COIN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54480" y="4416551"/>
            <a:ext cx="11612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  <a:latin typeface="Calibri"/>
              </a:rPr>
              <a:t>+69.0%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34639" y="4416551"/>
            <a:ext cx="12527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  <a:latin typeface="Calibri"/>
              </a:rPr>
              <a:t>88.4%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06240" y="4416551"/>
            <a:ext cx="14813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0.724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60720" y="4416551"/>
            <a:ext cx="11155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2626"/>
                </a:solidFill>
                <a:latin typeface="Calibri"/>
              </a:rPr>
              <a:t>−7.93%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95159" y="4416551"/>
            <a:ext cx="16184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2626"/>
                </a:solidFill>
                <a:latin typeface="Calibri"/>
              </a:rPr>
              <a:t>−66.8%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4837176"/>
            <a:ext cx="8641080" cy="521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4956048"/>
            <a:ext cx="102412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Calibri"/>
              </a:rPr>
              <a:t>HOOD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554480" y="4956048"/>
            <a:ext cx="11612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  <a:latin typeface="Calibri"/>
              </a:rPr>
              <a:t>+77.9%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34639" y="4956048"/>
            <a:ext cx="12527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  <a:latin typeface="Calibri"/>
              </a:rPr>
              <a:t>66.0%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06240" y="4956048"/>
            <a:ext cx="14813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1.103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760720" y="4956048"/>
            <a:ext cx="11155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2626"/>
                </a:solidFill>
                <a:latin typeface="Calibri"/>
              </a:rPr>
              <a:t>−5.60%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95159" y="4956048"/>
            <a:ext cx="16184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2626"/>
                </a:solidFill>
                <a:latin typeface="Calibri"/>
              </a:rPr>
              <a:t>−57.3%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5376672"/>
            <a:ext cx="8641080" cy="521207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1480" y="5495544"/>
            <a:ext cx="102412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Calibri"/>
              </a:rPr>
              <a:t>AFRM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554480" y="5495544"/>
            <a:ext cx="11612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  <a:latin typeface="Calibri"/>
              </a:rPr>
              <a:t>+72.6%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834639" y="5495544"/>
            <a:ext cx="12527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  <a:latin typeface="Calibri"/>
              </a:rPr>
              <a:t>90.5%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06240" y="5495544"/>
            <a:ext cx="14813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0.747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760720" y="5495544"/>
            <a:ext cx="11155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2626"/>
                </a:solidFill>
                <a:latin typeface="Calibri"/>
              </a:rPr>
              <a:t>−8.17%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995159" y="5495544"/>
            <a:ext cx="16184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2626"/>
                </a:solidFill>
                <a:latin typeface="Calibri"/>
              </a:rPr>
              <a:t>−77.7%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44000" y="114300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Sharpe Ratio</a:t>
            </a:r>
          </a:p>
        </p:txBody>
      </p:sp>
      <p:graphicFrame>
        <p:nvGraphicFramePr>
          <p:cNvPr id="69" name="Chart 68"/>
          <p:cNvGraphicFramePr>
            <a:graphicFrameLocks noGrp="1"/>
          </p:cNvGraphicFramePr>
          <p:nvPr/>
        </p:nvGraphicFramePr>
        <p:xfrm>
          <a:off x="9052560" y="1508760"/>
          <a:ext cx="2926080" cy="5074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0" name="Rectangle 69"/>
          <p:cNvSpPr/>
          <p:nvPr/>
        </p:nvSpPr>
        <p:spPr>
          <a:xfrm>
            <a:off x="365760" y="6446520"/>
            <a:ext cx="8641080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ADCFC"/>
                </a:solidFill>
                <a:latin typeface="Calibri"/>
              </a:rPr>
              <a:t>Key Insight: JPM &amp; HOOD top Sharpe (&gt;1.0)  ·  PYPL only negative Sharpe  ·  AFRM/COIN: highest return but extreme max drawdown (−66% to −78%)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Phase 4 — Machine Learning: Price Direction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Random Forest Classifier · Binary classification · Time-series aware 80/20 split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Model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72768"/>
            <a:ext cx="1874519" cy="5303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0" y="1572768"/>
            <a:ext cx="3520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82495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ADCFC"/>
                </a:solidFill>
                <a:latin typeface="Calibri"/>
              </a:rPr>
              <a:t>Algorithm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5728" y="169164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  <a:latin typeface="Calibri"/>
              </a:rPr>
              <a:t>Random Forest Classifier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31136"/>
            <a:ext cx="1874519" cy="5303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0" y="2231136"/>
            <a:ext cx="3520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34086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ADCFC"/>
                </a:solidFill>
                <a:latin typeface="Calibri"/>
              </a:rPr>
              <a:t>Estimators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235000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  <a:latin typeface="Calibri"/>
              </a:rPr>
              <a:t>200 trees, max_depth = 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889504"/>
            <a:ext cx="1874519" cy="5303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0" y="2889504"/>
            <a:ext cx="3520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99923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ADCFC"/>
                </a:solidFill>
                <a:latin typeface="Calibri"/>
              </a:rPr>
              <a:t>Min Samples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95728" y="3008376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  <a:latin typeface="Calibri"/>
              </a:rPr>
              <a:t>min_samples_split = 20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547872"/>
            <a:ext cx="1874519" cy="5303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0" y="3547872"/>
            <a:ext cx="3520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6576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ADCFC"/>
                </a:solidFill>
                <a:latin typeface="Calibri"/>
              </a:rPr>
              <a:t>Features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95728" y="3666744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  <a:latin typeface="Calibri"/>
              </a:rPr>
              <a:t>42 total (base + 5-day lags)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206240"/>
            <a:ext cx="1874519" cy="5303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86000" y="4206240"/>
            <a:ext cx="3520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31596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ADCFC"/>
                </a:solidFill>
                <a:latin typeface="Calibri"/>
              </a:rPr>
              <a:t>Split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95728" y="4325112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  <a:latin typeface="Calibri"/>
              </a:rPr>
              <a:t>80 / 20 chronological (no shuffle)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864607"/>
            <a:ext cx="1874519" cy="5303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0" y="4864607"/>
            <a:ext cx="3520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97433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ADCFC"/>
                </a:solidFill>
                <a:latin typeface="Calibri"/>
              </a:rPr>
              <a:t>Scaling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95728" y="4983479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  <a:latin typeface="Calibri"/>
              </a:rPr>
              <a:t>StandardScaler normalization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522976"/>
            <a:ext cx="1874519" cy="5303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0" y="5522976"/>
            <a:ext cx="3520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63270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ADCFC"/>
                </a:solidFill>
                <a:latin typeface="Calibri"/>
              </a:rPr>
              <a:t>Target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95728" y="564184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  <a:latin typeface="Calibri"/>
              </a:rPr>
              <a:t>Next-day price direction (Up / Down)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114300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Results (JPM Test Set)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1572768"/>
            <a:ext cx="1783080" cy="131673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26480" y="1773936"/>
            <a:ext cx="1783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C8E0"/>
                </a:solidFill>
                <a:latin typeface="Calibri"/>
              </a:rPr>
              <a:t>52.1%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237744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ADCFC"/>
                </a:solidFill>
                <a:latin typeface="Calibri"/>
              </a:rPr>
              <a:t>Test Accuracy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20" y="1572768"/>
            <a:ext cx="1783080" cy="131673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0" y="1773936"/>
            <a:ext cx="1783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D97706"/>
                </a:solidFill>
                <a:latin typeface="Calibri"/>
              </a:rPr>
              <a:t>0.471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237744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ADCFC"/>
                </a:solidFill>
                <a:latin typeface="Calibri"/>
              </a:rPr>
              <a:t>ROC-AUC Score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26480" y="3035808"/>
            <a:ext cx="1783080" cy="131673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26480" y="3236976"/>
            <a:ext cx="1783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59669"/>
                </a:solidFill>
                <a:latin typeface="Calibri"/>
              </a:rPr>
              <a:t>1.117x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384048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ADCFC"/>
                </a:solidFill>
                <a:latin typeface="Calibri"/>
              </a:rPr>
              <a:t>ML Strategy Return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46720" y="3035808"/>
            <a:ext cx="1783080" cy="131673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20" y="3236976"/>
            <a:ext cx="1783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DC2626"/>
                </a:solidFill>
                <a:latin typeface="Calibri"/>
              </a:rPr>
              <a:t>1.321x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6720" y="384048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ADCFC"/>
                </a:solidFill>
                <a:latin typeface="Calibri"/>
              </a:rPr>
              <a:t>Buy &amp; Hold Return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0" y="114300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Top Feature Importances</a:t>
            </a:r>
          </a:p>
        </p:txBody>
      </p:sp>
      <p:graphicFrame>
        <p:nvGraphicFramePr>
          <p:cNvPr id="48" name="Chart 47"/>
          <p:cNvGraphicFramePr>
            <a:graphicFrameLocks noGrp="1"/>
          </p:cNvGraphicFramePr>
          <p:nvPr/>
        </p:nvGraphicFramePr>
        <p:xfrm>
          <a:off x="9921240" y="1508760"/>
          <a:ext cx="2148840" cy="5074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9" name="Rectangle 48"/>
          <p:cNvSpPr/>
          <p:nvPr/>
        </p:nvSpPr>
        <p:spPr>
          <a:xfrm>
            <a:off x="365760" y="6446520"/>
            <a:ext cx="11457432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6483096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ADCFC"/>
                </a:solidFill>
                <a:latin typeface="Calibri"/>
              </a:rPr>
              <a:t>Key Insight: 52.1% barely beats random (50%) — consistent with Efficient Market Hypothesis  ·  ML Strategy (1.117×) underperformed Buy-and-Hold (1.321×) on test data  ·  Volume &amp; RSI most predictive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Phase 5 — News Sentiment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RSS scraping · VADER NLP model · 368 articles · 8 tickers · 2026 live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2240280" cy="102412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43584"/>
            <a:ext cx="2240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C8E0"/>
                </a:solidFill>
                <a:latin typeface="Calibri"/>
              </a:rPr>
              <a:t>368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55648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ADCFC"/>
                </a:solidFill>
                <a:latin typeface="Calibri"/>
              </a:rPr>
              <a:t>Articles
Collected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143000"/>
            <a:ext cx="2240280" cy="102412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243584"/>
            <a:ext cx="2240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59669"/>
                </a:solidFill>
                <a:latin typeface="Calibri"/>
              </a:rPr>
              <a:t>+0.221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755648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ADCFC"/>
                </a:solidFill>
                <a:latin typeface="Calibri"/>
              </a:rPr>
              <a:t>Mean Sentiment
Score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1143000"/>
            <a:ext cx="2240280" cy="102412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1243584"/>
            <a:ext cx="2240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59669"/>
                </a:solidFill>
                <a:latin typeface="Calibri"/>
              </a:rPr>
              <a:t>187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1755648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ADCFC"/>
                </a:solidFill>
                <a:latin typeface="Calibri"/>
              </a:rPr>
              <a:t>Positive
Articles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0" y="1143000"/>
            <a:ext cx="2240280" cy="102412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0" y="1243584"/>
            <a:ext cx="2240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97706"/>
                </a:solidFill>
                <a:latin typeface="Calibri"/>
              </a:rPr>
              <a:t>119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0" y="1755648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ADCFC"/>
                </a:solidFill>
                <a:latin typeface="Calibri"/>
              </a:rPr>
              <a:t>Neutral
Articles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75520" y="1143000"/>
            <a:ext cx="2240280" cy="102412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0" y="1243584"/>
            <a:ext cx="2240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C2626"/>
                </a:solidFill>
                <a:latin typeface="Calibri"/>
              </a:rPr>
              <a:t>62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1755648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ADCFC"/>
                </a:solidFill>
                <a:latin typeface="Calibri"/>
              </a:rPr>
              <a:t>Negative
Articles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35915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Pipeline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788920"/>
            <a:ext cx="402336" cy="530352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2871215"/>
            <a:ext cx="4023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2834639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Calibri"/>
              </a:rPr>
              <a:t>RSS Scraping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08152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332"/>
                </a:solidFill>
                <a:latin typeface="Calibri"/>
              </a:rPr>
              <a:t>Yahoo Finance + Google News RSS feeds per ticker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547872"/>
            <a:ext cx="402336" cy="530352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630168"/>
            <a:ext cx="4023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3593591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Calibri"/>
              </a:rPr>
              <a:t>Text Cleaning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384048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332"/>
                </a:solidFill>
                <a:latin typeface="Calibri"/>
              </a:rPr>
              <a:t>Strip HTML, decode entities, normalize whitespace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306824"/>
            <a:ext cx="402336" cy="530352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4389120"/>
            <a:ext cx="4023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435254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Calibri"/>
              </a:rPr>
              <a:t>VADER Scoring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" y="459943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332"/>
                </a:solidFill>
                <a:latin typeface="Calibri"/>
              </a:rPr>
              <a:t>Compound score −1 (negative) to +1 (positive)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065775"/>
            <a:ext cx="402336" cy="530352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5148071"/>
            <a:ext cx="4023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" y="5111495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Calibri"/>
              </a:rPr>
              <a:t>Classification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" y="5358383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332"/>
                </a:solidFill>
                <a:latin typeface="Calibri"/>
              </a:rPr>
              <a:t>Positive &gt;0.05 · Neutral ±0.05 · Negative &lt;−0.05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824727"/>
            <a:ext cx="402336" cy="530352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5907023"/>
            <a:ext cx="4023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" y="5870447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Calibri"/>
              </a:rPr>
              <a:t>Aggregation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" y="6117336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332"/>
                </a:solidFill>
                <a:latin typeface="Calibri"/>
              </a:rPr>
              <a:t>Daily mean sentiment per ticker, joined with prices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0" y="2359152"/>
            <a:ext cx="6309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Average Sentiment Score by Ticker</a:t>
            </a:r>
          </a:p>
        </p:txBody>
      </p:sp>
      <p:graphicFrame>
        <p:nvGraphicFramePr>
          <p:cNvPr id="42" name="Chart 41"/>
          <p:cNvGraphicFramePr>
            <a:graphicFrameLocks noGrp="1"/>
          </p:cNvGraphicFramePr>
          <p:nvPr/>
        </p:nvGraphicFramePr>
        <p:xfrm>
          <a:off x="5577840" y="2743200"/>
          <a:ext cx="6309360" cy="3703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3" name="Rectangle 42"/>
          <p:cNvSpPr/>
          <p:nvPr/>
        </p:nvSpPr>
        <p:spPr>
          <a:xfrm>
            <a:off x="365760" y="6510528"/>
            <a:ext cx="11457432" cy="256032"/>
          </a:xfrm>
          <a:prstGeom prst="rect">
            <a:avLst/>
          </a:prstGeom>
          <a:solidFill>
            <a:srgbClr val="2A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6528816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ADCFC"/>
                </a:solidFill>
                <a:latin typeface="Calibri"/>
              </a:rPr>
              <a:t>MA highest sentiment (0.34) · XYZ slightly negative (−0.02) · Correlation with next-day returns limited due to RSS date misalignment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Phase 6 — Portfolio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Markowitz mean-variance · Lagrange multipliers · Monte Carlo · SLSQP · Efficient Frontier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15568"/>
            <a:ext cx="2834640" cy="1417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2606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Critical Points
(2-Asset)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Analytical min-variance weight
via calculus</a:t>
            </a:r>
          </a:p>
        </p:txBody>
      </p:sp>
      <p:sp>
        <p:nvSpPr>
          <p:cNvPr id="8" name="Rectangle 7"/>
          <p:cNvSpPr/>
          <p:nvPr/>
        </p:nvSpPr>
        <p:spPr>
          <a:xfrm>
            <a:off x="3328416" y="1115568"/>
            <a:ext cx="2834640" cy="14173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65576" y="1188720"/>
            <a:ext cx="2606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Lagrange Multipliers
(N-Asset)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65576" y="178308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Closed-form n-asset solution
with equality constraints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91072" y="1115568"/>
            <a:ext cx="2834640" cy="1417320"/>
          </a:xfrm>
          <a:prstGeom prst="rect">
            <a:avLst/>
          </a:prstGeom>
          <a:solidFill>
            <a:srgbClr val="05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188720"/>
            <a:ext cx="2606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Monte Carlo
10,000 Portfolios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178308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Random weight sampling to
visualize risk-return space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53728" y="1115568"/>
            <a:ext cx="2834640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90888" y="1188720"/>
            <a:ext cx="2606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SLSQP Optimization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0888" y="178308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Max Sharpe &amp; Min Variance
via scipy constrained solver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697480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Maximum Sharpe Portfolio  (Sharpe = 1.157)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365760" y="3108960"/>
          <a:ext cx="384048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Rectangle 18"/>
          <p:cNvSpPr/>
          <p:nvPr/>
        </p:nvSpPr>
        <p:spPr>
          <a:xfrm>
            <a:off x="4297680" y="2697480"/>
            <a:ext cx="1828800" cy="3931920"/>
          </a:xfrm>
          <a:prstGeom prst="rect">
            <a:avLst/>
          </a:prstGeom>
          <a:solidFill>
            <a:srgbClr val="EEF2FF"/>
          </a:solidFill>
          <a:ln w="12700">
            <a:solidFill>
              <a:srgbClr val="D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278892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Calibri"/>
              </a:rPr>
              <a:t>Weights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20040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JPM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3218688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8E0"/>
                </a:solidFill>
                <a:latin typeface="Calibri"/>
              </a:rPr>
              <a:t>70.4%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06908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HOOD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4087368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59669"/>
                </a:solidFill>
                <a:latin typeface="Calibri"/>
              </a:rPr>
              <a:t>29.1%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93776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AFRM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4956048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97706"/>
                </a:solidFill>
                <a:latin typeface="Calibri"/>
              </a:rPr>
              <a:t>0.5%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69748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Minimum Variance Portfolio  (Vol ≈ 19.0%)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6309360" y="3108960"/>
          <a:ext cx="3840480" cy="3520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" name="Rectangle 28"/>
          <p:cNvSpPr/>
          <p:nvPr/>
        </p:nvSpPr>
        <p:spPr>
          <a:xfrm>
            <a:off x="10287000" y="2697480"/>
            <a:ext cx="1691640" cy="3977639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78440" y="2788920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E0"/>
                </a:solidFill>
                <a:latin typeface="Calibri"/>
              </a:rPr>
              <a:t>Efficient
Frontier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78440" y="342900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E0"/>
                </a:solidFill>
                <a:latin typeface="Calibri"/>
              </a:rPr>
              <a:t>80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78440" y="3739896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ADCFC"/>
                </a:solidFill>
                <a:latin typeface="Calibri"/>
              </a:rPr>
              <a:t>Optimal portfolios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78440" y="4050791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E0"/>
                </a:solidFill>
                <a:latin typeface="Calibri"/>
              </a:rPr>
              <a:t>10,000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78440" y="4361688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ADCFC"/>
                </a:solidFill>
                <a:latin typeface="Calibri"/>
              </a:rPr>
              <a:t>MC simulations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78440" y="4672584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E0"/>
                </a:solidFill>
                <a:latin typeface="Calibri"/>
              </a:rPr>
              <a:t>0–100%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78440" y="498348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ADCFC"/>
                </a:solidFill>
                <a:latin typeface="Calibri"/>
              </a:rPr>
              <a:t>Weight bounds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78440" y="5294376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E0"/>
                </a:solidFill>
                <a:latin typeface="Calibri"/>
              </a:rPr>
              <a:t>13.8%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78440" y="5605272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ADCFC"/>
                </a:solidFill>
                <a:latin typeface="Calibri"/>
              </a:rPr>
              <a:t>Min frontier ret.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78440" y="5916168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E0"/>
                </a:solidFill>
                <a:latin typeface="Calibri"/>
              </a:rPr>
              <a:t>62.0%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78440" y="6227064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ADCFC"/>
                </a:solidFill>
                <a:latin typeface="Calibri"/>
              </a:rPr>
              <a:t>Max frontier ret.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Phase 6 — GBM Price Simulation (Monte Carlo)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Geometric Brownian Motion · Euler-Maruyama discretization · 500 paths · 252 trading 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Mathematical Foundation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72768"/>
            <a:ext cx="5349240" cy="8686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2763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ADCFC"/>
                </a:solidFill>
                <a:latin typeface="Calibri"/>
              </a:rPr>
              <a:t>Stochastic Differential Equation: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C8E0"/>
                </a:solidFill>
                <a:latin typeface="Calibri"/>
              </a:rPr>
              <a:t>  dS = μS dt + σS dWt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542032"/>
            <a:ext cx="5349240" cy="822960"/>
          </a:xfrm>
          <a:prstGeom prst="rect">
            <a:avLst/>
          </a:prstGeom>
          <a:solidFill>
            <a:srgbClr val="EEF2FF"/>
          </a:solidFill>
          <a:ln w="12700">
            <a:solidFill>
              <a:srgbClr val="D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6060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761"/>
                </a:solidFill>
                <a:latin typeface="Calibri"/>
              </a:rPr>
              <a:t>Euler-Maruyama Discretization: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8036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  <a:latin typeface="Calibri"/>
              </a:rPr>
              <a:t>  S(t+Δt) = St + μ·St·Δt + σ·St·√Δt·Z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456432"/>
            <a:ext cx="5349240" cy="822960"/>
          </a:xfrm>
          <a:prstGeom prst="rect">
            <a:avLst/>
          </a:prstGeom>
          <a:solidFill>
            <a:srgbClr val="EEF2FF"/>
          </a:solidFill>
          <a:ln w="12700">
            <a:solidFill>
              <a:srgbClr val="D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5204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761"/>
                </a:solidFill>
                <a:latin typeface="Calibri"/>
              </a:rPr>
              <a:t>Exact Solution via Itô's Lemma: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79476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  <a:latin typeface="Calibri"/>
              </a:rPr>
              <a:t>  S(T) = S₀ · exp[(μ − σ²/2)T + σWt]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407408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Simulation Parameters (JPM)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82803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4A6B"/>
                </a:solidFill>
                <a:latin typeface="Calibri"/>
              </a:rPr>
              <a:t>Current Price (S₀):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482803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761"/>
                </a:solidFill>
                <a:latin typeface="Calibri"/>
              </a:rPr>
              <a:t>$314.90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16636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4A6B"/>
                </a:solidFill>
                <a:latin typeface="Calibri"/>
              </a:rPr>
              <a:t>Annual Drift (μ):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516636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761"/>
                </a:solidFill>
                <a:latin typeface="Calibri"/>
              </a:rPr>
              <a:t>+30.3%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504688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4A6B"/>
                </a:solidFill>
                <a:latin typeface="Calibri"/>
              </a:rPr>
              <a:t>Annual Vol (σ):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550468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761"/>
                </a:solidFill>
                <a:latin typeface="Calibri"/>
              </a:rPr>
              <a:t>24.2%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843016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4A6B"/>
                </a:solidFill>
                <a:latin typeface="Calibri"/>
              </a:rPr>
              <a:t>MC Paths: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584301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761"/>
                </a:solidFill>
                <a:latin typeface="Calibri"/>
              </a:rPr>
              <a:t>500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181344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4A6B"/>
                </a:solidFill>
                <a:latin typeface="Calibri"/>
              </a:rPr>
              <a:t>Horizon: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618134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761"/>
                </a:solidFill>
                <a:latin typeface="Calibri"/>
              </a:rPr>
              <a:t>252 trading days (1 year)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967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4A6B"/>
                </a:solidFill>
                <a:latin typeface="Calibri"/>
              </a:rPr>
              <a:t>Step Size (Δt):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651967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761"/>
                </a:solidFill>
                <a:latin typeface="Calibri"/>
              </a:rPr>
              <a:t>1/252 (daily)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1143000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1-Year Price Forecast (JPM)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1572768"/>
            <a:ext cx="5943600" cy="841248"/>
          </a:xfrm>
          <a:prstGeom prst="rect">
            <a:avLst/>
          </a:prstGeom>
          <a:solidFill>
            <a:srgbClr val="F8FAFF"/>
          </a:solidFill>
          <a:ln w="12700">
            <a:solidFill>
              <a:srgbClr val="D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1709928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6B"/>
                </a:solidFill>
                <a:latin typeface="Calibri"/>
              </a:rPr>
              <a:t>P5  · Bear Case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6920" y="166420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DC2626"/>
                </a:solidFill>
                <a:latin typeface="Calibri"/>
              </a:rPr>
              <a:t>$307.33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542032"/>
            <a:ext cx="5943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2679192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6B"/>
                </a:solidFill>
                <a:latin typeface="Calibri"/>
              </a:rPr>
              <a:t>P25 · 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46920" y="263347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D97706"/>
                </a:solidFill>
                <a:latin typeface="Calibri"/>
              </a:rPr>
              <a:t>$312.30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0" y="3511296"/>
            <a:ext cx="5943600" cy="84124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63640" y="3648456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P50 · Median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6920" y="360273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00C8E0"/>
                </a:solidFill>
                <a:latin typeface="Calibri"/>
              </a:rPr>
              <a:t>$315.39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35040" y="4480560"/>
            <a:ext cx="5943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63640" y="4617720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6B"/>
                </a:solidFill>
                <a:latin typeface="Calibri"/>
              </a:rPr>
              <a:t>P75 · High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46920" y="4572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059669"/>
                </a:solidFill>
                <a:latin typeface="Calibri"/>
              </a:rPr>
              <a:t>$318.59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35040" y="5449824"/>
            <a:ext cx="5943600" cy="841248"/>
          </a:xfrm>
          <a:prstGeom prst="rect">
            <a:avLst/>
          </a:prstGeom>
          <a:solidFill>
            <a:srgbClr val="F8FAFF"/>
          </a:solidFill>
          <a:ln w="12700">
            <a:solidFill>
              <a:srgbClr val="D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63640" y="5586984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6B"/>
                </a:solidFill>
                <a:latin typeface="Calibri"/>
              </a:rPr>
              <a:t>P95 · Bull Case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46920" y="5541264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059669"/>
                </a:solidFill>
                <a:latin typeface="Calibri"/>
              </a:rPr>
              <a:t>$323.24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6446520"/>
            <a:ext cx="5943600" cy="347472"/>
          </a:xfrm>
          <a:prstGeom prst="rect">
            <a:avLst/>
          </a:prstGeom>
          <a:solidFill>
            <a:srgbClr val="2A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72200" y="649224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ADCFC"/>
                </a:solidFill>
                <a:latin typeface="Calibri"/>
              </a:rPr>
              <a:t>Euler-Maruyama error &lt; 0.5% vs exact Itô solution  ·  Daily Δt optimal (sensitivity tested vs weekly / monthly)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12188952" cy="93268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"/>
            <a:ext cx="8686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Interactive Dashboard  —  Streamlit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94944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Real-time FinTech analysis · Plotly visualizations · Dark theme · Cached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15568"/>
            <a:ext cx="3749039" cy="1920240"/>
          </a:xfrm>
          <a:prstGeom prst="rect">
            <a:avLst/>
          </a:prstGeom>
          <a:solidFill>
            <a:srgbClr val="2A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15568"/>
            <a:ext cx="3749039" cy="457200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35607"/>
            <a:ext cx="3749039" cy="155448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207008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Candlestick Chart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682495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Interactive OHLCV with RSI
&amp; Volume subplots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115568"/>
            <a:ext cx="3749039" cy="1920240"/>
          </a:xfrm>
          <a:prstGeom prst="rect">
            <a:avLst/>
          </a:prstGeom>
          <a:solidFill>
            <a:srgbClr val="2A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115568"/>
            <a:ext cx="3749039" cy="457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1435607"/>
            <a:ext cx="3749039" cy="15544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207008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Technical Indicators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1682495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MACD + Signal + Histogram
for all 8 tickers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66176" y="1115568"/>
            <a:ext cx="3749039" cy="1920240"/>
          </a:xfrm>
          <a:prstGeom prst="rect">
            <a:avLst/>
          </a:prstGeom>
          <a:solidFill>
            <a:srgbClr val="2A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66176" y="1115568"/>
            <a:ext cx="3749039" cy="457200"/>
          </a:xfrm>
          <a:prstGeom prst="rect">
            <a:avLst/>
          </a:prstGeom>
          <a:solidFill>
            <a:srgbClr val="05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66176" y="1435607"/>
            <a:ext cx="3749039" cy="155448"/>
          </a:xfrm>
          <a:prstGeom prst="rect">
            <a:avLst/>
          </a:prstGeom>
          <a:solidFill>
            <a:srgbClr val="05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30768" y="1207008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Multi-Stock Comparison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0768" y="1682495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Normalized performance line
&amp; Risk/Return scatter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200400"/>
            <a:ext cx="3749039" cy="1920240"/>
          </a:xfrm>
          <a:prstGeom prst="rect">
            <a:avLst/>
          </a:prstGeom>
          <a:solidFill>
            <a:srgbClr val="2A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200400"/>
            <a:ext cx="3749039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3520440"/>
            <a:ext cx="3749039" cy="1554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329184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Correlation Heatmap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3767328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Live Pearson matrix on
daily return series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15968" y="3200400"/>
            <a:ext cx="3749039" cy="1920240"/>
          </a:xfrm>
          <a:prstGeom prst="rect">
            <a:avLst/>
          </a:prstGeom>
          <a:solidFill>
            <a:srgbClr val="2A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15968" y="3200400"/>
            <a:ext cx="3749039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15968" y="3520440"/>
            <a:ext cx="3749039" cy="1554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0" y="329184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Portfolio Optimizer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3767328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Efficient frontier +
optimal weight charts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66176" y="3200400"/>
            <a:ext cx="3749039" cy="1920240"/>
          </a:xfrm>
          <a:prstGeom prst="rect">
            <a:avLst/>
          </a:prstGeom>
          <a:solidFill>
            <a:srgbClr val="2A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66176" y="3200400"/>
            <a:ext cx="3749039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66176" y="3520440"/>
            <a:ext cx="3749039" cy="1554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30768" y="329184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GBM Price Simulator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0768" y="3767328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500 MC paths with 50% &amp;
90% confidence bands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230368"/>
            <a:ext cx="11457432" cy="1417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532180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E0"/>
                </a:solidFill>
                <a:latin typeface="Calibri"/>
              </a:rPr>
              <a:t>Tech Stack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" y="5742432"/>
            <a:ext cx="1353312" cy="5943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5833872"/>
            <a:ext cx="1353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8E0"/>
                </a:solidFill>
                <a:latin typeface="Calibri"/>
              </a:rPr>
              <a:t>Streamlit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057400" y="5742432"/>
            <a:ext cx="1353312" cy="5943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57400" y="5833872"/>
            <a:ext cx="1353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8E0"/>
                </a:solidFill>
                <a:latin typeface="Calibri"/>
              </a:rPr>
              <a:t>Plotly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20440" y="5742432"/>
            <a:ext cx="1353312" cy="5943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20440" y="5833872"/>
            <a:ext cx="1353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8E0"/>
                </a:solidFill>
                <a:latin typeface="Calibri"/>
              </a:rPr>
              <a:t>yfinance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5742432"/>
            <a:ext cx="1353312" cy="5943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983480" y="5833872"/>
            <a:ext cx="1353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8E0"/>
                </a:solidFill>
                <a:latin typeface="Calibri"/>
              </a:rPr>
              <a:t>pandas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46520" y="5742432"/>
            <a:ext cx="1353312" cy="5943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46520" y="5833872"/>
            <a:ext cx="1353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8E0"/>
                </a:solidFill>
                <a:latin typeface="Calibri"/>
              </a:rPr>
              <a:t>NumPy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09560" y="5742432"/>
            <a:ext cx="1353312" cy="5943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09560" y="5833872"/>
            <a:ext cx="1353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8E0"/>
                </a:solidFill>
                <a:latin typeface="Calibri"/>
              </a:rPr>
              <a:t>scikit-learn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372600" y="5742432"/>
            <a:ext cx="1353312" cy="5943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72600" y="5833872"/>
            <a:ext cx="1353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8E0"/>
                </a:solidFill>
                <a:latin typeface="Calibri"/>
              </a:rPr>
              <a:t>scipy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835640" y="5742432"/>
            <a:ext cx="1353312" cy="5943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835640" y="5833872"/>
            <a:ext cx="1353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8E0"/>
                </a:solidFill>
                <a:latin typeface="Calibri"/>
              </a:rPr>
              <a:t>VADER NLP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Key Findings &amp;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Summary of results across all six analysis phases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3730752" cy="2286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34107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8E0"/>
                </a:solidFill>
                <a:latin typeface="Calibri"/>
              </a:rPr>
              <a:t>JPM 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34107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8E0"/>
                </a:solidFill>
                <a:latin typeface="Calibri"/>
              </a:rPr>
              <a:t>Risk-Adjusted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34107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Sharpe 1.044 — best stable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61488"/>
            <a:ext cx="34107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performer 2020–2024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5112" y="1143000"/>
            <a:ext cx="3730752" cy="2286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280160"/>
            <a:ext cx="34107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59669"/>
                </a:solidFill>
                <a:latin typeface="Calibri"/>
              </a:rPr>
              <a:t>HOOD Leads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1737360"/>
            <a:ext cx="34107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59669"/>
                </a:solidFill>
                <a:latin typeface="Calibri"/>
              </a:rPr>
              <a:t>Growth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377440"/>
            <a:ext cx="34107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+77.9% annualised — highest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761488"/>
            <a:ext cx="34107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growth with 1.1 Sharpe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84464" y="1143000"/>
            <a:ext cx="3730752" cy="2286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7344" y="1280160"/>
            <a:ext cx="34107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97706"/>
                </a:solidFill>
                <a:latin typeface="Calibri"/>
              </a:rPr>
              <a:t>ML Accuracy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7344" y="1737360"/>
            <a:ext cx="34107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97706"/>
                </a:solidFill>
                <a:latin typeface="Calibri"/>
              </a:rPr>
              <a:t>52.1%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7344" y="2377440"/>
            <a:ext cx="34107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Barely beats random (50%)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7344" y="2761488"/>
            <a:ext cx="34107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Markets are efficient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685032"/>
            <a:ext cx="3730752" cy="2286000"/>
          </a:xfrm>
          <a:prstGeom prst="rect">
            <a:avLst/>
          </a:prstGeom>
          <a:solidFill>
            <a:srgbClr val="05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822192"/>
            <a:ext cx="34107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8E0"/>
                </a:solidFill>
                <a:latin typeface="Calibri"/>
              </a:rPr>
              <a:t>Max Sharpe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279392"/>
            <a:ext cx="34107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8E0"/>
                </a:solidFill>
                <a:latin typeface="Calibri"/>
              </a:rPr>
              <a:t>Portfolio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919472"/>
            <a:ext cx="34107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JPM 70.4% + HOOD 29.1%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303520"/>
            <a:ext cx="34107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Sharpe = 1.157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25112" y="3685032"/>
            <a:ext cx="3730752" cy="2286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07992" y="3822192"/>
            <a:ext cx="34107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Sentiment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07992" y="4279392"/>
            <a:ext cx="34107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+0.221 avg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07992" y="4919472"/>
            <a:ext cx="34107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MA most positive (0.34)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07992" y="5303520"/>
            <a:ext cx="34107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XYZ slightly negative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84464" y="3685032"/>
            <a:ext cx="3730752" cy="2286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67344" y="3822192"/>
            <a:ext cx="34107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GBM JPM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67344" y="4279392"/>
            <a:ext cx="34107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Forecast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67344" y="4919472"/>
            <a:ext cx="34107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Median $315.39 in 1 yr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67344" y="5303520"/>
            <a:ext cx="34107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90% CI: $307 – $323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109728" cy="6729984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8412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A complete 6-phase data analytics pipeline covering the full ML/stats spectrum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17904"/>
            <a:ext cx="365760" cy="365760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36192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2761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545336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Real-world FinTech data (8 stocks, 5 years) collected, cleaned, and feature-engineered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31136"/>
            <a:ext cx="365760" cy="365760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249424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2761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258568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EDA revealed clear risk-return trade-offs — COIN/HOOD reward vs V/MA defensive stability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44368"/>
            <a:ext cx="365760" cy="365760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962656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2761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97180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ML confirmed market efficiency: 52.1% accuracy barely exceeds random baseline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657600"/>
            <a:ext cx="365760" cy="365760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675887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2761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685032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Portfolio theory applied via both analytical (Lagrange) and numerical (SLSQP) methods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370832"/>
            <a:ext cx="365760" cy="365760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389120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2761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398264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GBM stochastic modelling provides principled price forecasting with quantified uncertainty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084064"/>
            <a:ext cx="365760" cy="365760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102352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2761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111496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Interactive Streamlit dashboard delivers real-time visualization of all analysis components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55480" y="137160"/>
            <a:ext cx="2487168" cy="660196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0" y="274320"/>
            <a:ext cx="2240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C8E0"/>
                </a:solidFill>
                <a:latin typeface="Calibri"/>
              </a:rPr>
              <a:t>Project
Stats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109728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8E0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1536192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ADCFC"/>
                </a:solidFill>
                <a:latin typeface="Calibri"/>
              </a:rPr>
              <a:t>Analysis
Phases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1975104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8E0"/>
                </a:solidFill>
                <a:latin typeface="Calibri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2414016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ADCFC"/>
                </a:solidFill>
                <a:latin typeface="Calibri"/>
              </a:rPr>
              <a:t>Stocks
Analyzed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2852928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8E0"/>
                </a:solidFill>
                <a:latin typeface="Calibri"/>
              </a:rPr>
              <a:t>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3291840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ADCFC"/>
                </a:solidFill>
                <a:latin typeface="Calibri"/>
              </a:rPr>
              <a:t>Engineered
Features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3730752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8E0"/>
                </a:solidFill>
                <a:latin typeface="Calibri"/>
              </a:rPr>
              <a:t>368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4169664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ADCFC"/>
                </a:solidFill>
                <a:latin typeface="Calibri"/>
              </a:rPr>
              <a:t>News
Articles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4608576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8E0"/>
                </a:solidFill>
                <a:latin typeface="Calibri"/>
              </a:rPr>
              <a:t>10K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5047488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ADCFC"/>
                </a:solidFill>
                <a:latin typeface="Calibri"/>
              </a:rPr>
              <a:t>Monte Carlo
Simulations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54864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8E0"/>
                </a:solidFill>
                <a:latin typeface="Calibri"/>
              </a:rPr>
              <a:t>500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40" y="5925312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ADCFC"/>
                </a:solidFill>
                <a:latin typeface="Calibri"/>
              </a:rPr>
              <a:t>GBM
Paths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